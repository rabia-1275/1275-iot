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C Diary Girl" charset="1" panose="02000603000000000000"/>
      <p:regular r:id="rId18"/>
    </p:embeddedFont>
    <p:embeddedFont>
      <p:font typeface="Nunito" charset="1" panose="00000000000000000000"/>
      <p:regular r:id="rId19"/>
    </p:embeddedFont>
    <p:embeddedFont>
      <p:font typeface="Nunito Bold Italics" charset="1" panose="00000000000000000000"/>
      <p:regular r:id="rId20"/>
    </p:embeddedFont>
    <p:embeddedFont>
      <p:font typeface="Nunito Italics" charset="1" panose="00000000000000000000"/>
      <p:regular r:id="rId21"/>
    </p:embeddedFont>
    <p:embeddedFont>
      <p:font typeface="Nunito Bold" charset="1" panose="00000000000000000000"/>
      <p:regular r:id="rId22"/>
    </p:embeddedFont>
    <p:embeddedFont>
      <p:font typeface="Canva Sans" charset="1" panose="020B05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442">
            <a:off x="15105791" y="972562"/>
            <a:ext cx="2013817" cy="2206373"/>
          </a:xfrm>
          <a:custGeom>
            <a:avLst/>
            <a:gdLst/>
            <a:ahLst/>
            <a:cxnLst/>
            <a:rect r="r" b="b" t="t" l="l"/>
            <a:pathLst>
              <a:path h="2206373" w="2013817">
                <a:moveTo>
                  <a:pt x="0" y="0"/>
                </a:moveTo>
                <a:lnTo>
                  <a:pt x="2013817" y="0"/>
                </a:lnTo>
                <a:lnTo>
                  <a:pt x="2013817" y="2206373"/>
                </a:lnTo>
                <a:lnTo>
                  <a:pt x="0" y="22063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25094" y="8627655"/>
            <a:ext cx="3434206" cy="630645"/>
          </a:xfrm>
          <a:custGeom>
            <a:avLst/>
            <a:gdLst/>
            <a:ahLst/>
            <a:cxnLst/>
            <a:rect r="r" b="b" t="t" l="l"/>
            <a:pathLst>
              <a:path h="630645" w="3434206">
                <a:moveTo>
                  <a:pt x="0" y="0"/>
                </a:moveTo>
                <a:lnTo>
                  <a:pt x="3434206" y="0"/>
                </a:lnTo>
                <a:lnTo>
                  <a:pt x="3434206" y="630645"/>
                </a:lnTo>
                <a:lnTo>
                  <a:pt x="0" y="6306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37417">
            <a:off x="851829" y="6854065"/>
            <a:ext cx="3549699" cy="2562238"/>
          </a:xfrm>
          <a:custGeom>
            <a:avLst/>
            <a:gdLst/>
            <a:ahLst/>
            <a:cxnLst/>
            <a:rect r="r" b="b" t="t" l="l"/>
            <a:pathLst>
              <a:path h="2562238" w="3549699">
                <a:moveTo>
                  <a:pt x="0" y="0"/>
                </a:moveTo>
                <a:lnTo>
                  <a:pt x="3549700" y="0"/>
                </a:lnTo>
                <a:lnTo>
                  <a:pt x="3549700" y="2562238"/>
                </a:lnTo>
                <a:lnTo>
                  <a:pt x="0" y="25622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32018" y="2618437"/>
            <a:ext cx="12858622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Project Presentation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84418" y="4200526"/>
            <a:ext cx="12858622" cy="322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BDA696"/>
                </a:solidFill>
                <a:latin typeface="AC Diary Girl"/>
                <a:ea typeface="AC Diary Girl"/>
                <a:cs typeface="AC Diary Girl"/>
                <a:sym typeface="AC Diary Girl"/>
              </a:rPr>
              <a:t>IoT-Based Smart Medicine Box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99932" y="-1172339"/>
            <a:ext cx="6257264" cy="3629213"/>
          </a:xfrm>
          <a:custGeom>
            <a:avLst/>
            <a:gdLst/>
            <a:ahLst/>
            <a:cxnLst/>
            <a:rect r="r" b="b" t="t" l="l"/>
            <a:pathLst>
              <a:path h="3629213" w="6257264">
                <a:moveTo>
                  <a:pt x="0" y="0"/>
                </a:moveTo>
                <a:lnTo>
                  <a:pt x="6257264" y="0"/>
                </a:lnTo>
                <a:lnTo>
                  <a:pt x="6257264" y="3629214"/>
                </a:lnTo>
                <a:lnTo>
                  <a:pt x="0" y="3629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62426" y="4115375"/>
            <a:ext cx="14450597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The Smart Medicine Box is an IoT-based healthcare solution that helps prevent missed or forgotten medications. Powered by an ESP32 and integrated with the Blynk app, it automatically opens scheduled compartments, triggers alarms, and sends real-time alerts to caregivers. IR sensors confirm whether the dose is taken, while a DHT11 sensor monitors storage conditions to keep medicines safe. This system enhances medication adherence and provides greater peace of mind for patients and families.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533991" y="6870677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96206" y="2199700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45145" y="4637361"/>
            <a:ext cx="4634336" cy="1193812"/>
            <a:chOff x="0" y="0"/>
            <a:chExt cx="1220566" cy="3144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0566" cy="314420"/>
            </a:xfrm>
            <a:custGeom>
              <a:avLst/>
              <a:gdLst/>
              <a:ahLst/>
              <a:cxnLst/>
              <a:rect r="r" b="b" t="t" l="l"/>
              <a:pathLst>
                <a:path h="314420" w="1220566">
                  <a:moveTo>
                    <a:pt x="0" y="0"/>
                  </a:moveTo>
                  <a:lnTo>
                    <a:pt x="1220566" y="0"/>
                  </a:lnTo>
                  <a:lnTo>
                    <a:pt x="1220566" y="314420"/>
                  </a:lnTo>
                  <a:lnTo>
                    <a:pt x="0" y="314420"/>
                  </a:lnTo>
                  <a:close/>
                </a:path>
              </a:pathLst>
            </a:custGeom>
            <a:solidFill>
              <a:srgbClr val="33727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20566" cy="352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461168" y="4546594"/>
            <a:ext cx="4634336" cy="1193812"/>
            <a:chOff x="0" y="0"/>
            <a:chExt cx="1220566" cy="3144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0566" cy="314420"/>
            </a:xfrm>
            <a:custGeom>
              <a:avLst/>
              <a:gdLst/>
              <a:ahLst/>
              <a:cxnLst/>
              <a:rect r="r" b="b" t="t" l="l"/>
              <a:pathLst>
                <a:path h="314420" w="1220566">
                  <a:moveTo>
                    <a:pt x="0" y="0"/>
                  </a:moveTo>
                  <a:lnTo>
                    <a:pt x="1220566" y="0"/>
                  </a:lnTo>
                  <a:lnTo>
                    <a:pt x="1220566" y="314420"/>
                  </a:lnTo>
                  <a:lnTo>
                    <a:pt x="0" y="314420"/>
                  </a:lnTo>
                  <a:close/>
                </a:path>
              </a:pathLst>
            </a:custGeom>
            <a:solidFill>
              <a:srgbClr val="33727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20566" cy="352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26832" y="6545547"/>
            <a:ext cx="4634336" cy="1193812"/>
            <a:chOff x="0" y="0"/>
            <a:chExt cx="1220566" cy="3144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20566" cy="314420"/>
            </a:xfrm>
            <a:custGeom>
              <a:avLst/>
              <a:gdLst/>
              <a:ahLst/>
              <a:cxnLst/>
              <a:rect r="r" b="b" t="t" l="l"/>
              <a:pathLst>
                <a:path h="314420" w="1220566">
                  <a:moveTo>
                    <a:pt x="0" y="0"/>
                  </a:moveTo>
                  <a:lnTo>
                    <a:pt x="1220566" y="0"/>
                  </a:lnTo>
                  <a:lnTo>
                    <a:pt x="1220566" y="314420"/>
                  </a:lnTo>
                  <a:lnTo>
                    <a:pt x="0" y="314420"/>
                  </a:lnTo>
                  <a:close/>
                </a:path>
              </a:pathLst>
            </a:custGeom>
            <a:solidFill>
              <a:srgbClr val="33727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20566" cy="352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false" rot="0">
            <a:off x="15690050" y="7739359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3551363" y="0"/>
                </a:moveTo>
                <a:lnTo>
                  <a:pt x="0" y="0"/>
                </a:lnTo>
                <a:lnTo>
                  <a:pt x="0" y="1646944"/>
                </a:lnTo>
                <a:lnTo>
                  <a:pt x="3551363" y="1646944"/>
                </a:lnTo>
                <a:lnTo>
                  <a:pt x="355136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796206" y="2290466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Our Team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02469" y="4750079"/>
            <a:ext cx="411969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Rabia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18491" y="4659313"/>
            <a:ext cx="411969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Laiba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84155" y="6659847"/>
            <a:ext cx="411969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Malika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-746982" y="1028700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0" y="0"/>
                </a:moveTo>
                <a:lnTo>
                  <a:pt x="3551364" y="0"/>
                </a:lnTo>
                <a:lnTo>
                  <a:pt x="3551364" y="1646945"/>
                </a:lnTo>
                <a:lnTo>
                  <a:pt x="0" y="1646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697845" y="3579127"/>
            <a:ext cx="12892311" cy="1365838"/>
            <a:chOff x="0" y="0"/>
            <a:chExt cx="3395506" cy="3597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95506" cy="359727"/>
            </a:xfrm>
            <a:custGeom>
              <a:avLst/>
              <a:gdLst/>
              <a:ahLst/>
              <a:cxnLst/>
              <a:rect r="r" b="b" t="t" l="l"/>
              <a:pathLst>
                <a:path h="359727" w="3395506">
                  <a:moveTo>
                    <a:pt x="0" y="0"/>
                  </a:moveTo>
                  <a:lnTo>
                    <a:pt x="3395506" y="0"/>
                  </a:lnTo>
                  <a:lnTo>
                    <a:pt x="3395506" y="359727"/>
                  </a:lnTo>
                  <a:lnTo>
                    <a:pt x="0" y="3597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3727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395506" cy="397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697845" y="5345015"/>
            <a:ext cx="12892311" cy="1365838"/>
            <a:chOff x="0" y="0"/>
            <a:chExt cx="3395506" cy="3597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95506" cy="359727"/>
            </a:xfrm>
            <a:custGeom>
              <a:avLst/>
              <a:gdLst/>
              <a:ahLst/>
              <a:cxnLst/>
              <a:rect r="r" b="b" t="t" l="l"/>
              <a:pathLst>
                <a:path h="359727" w="3395506">
                  <a:moveTo>
                    <a:pt x="0" y="0"/>
                  </a:moveTo>
                  <a:lnTo>
                    <a:pt x="3395506" y="0"/>
                  </a:lnTo>
                  <a:lnTo>
                    <a:pt x="3395506" y="359727"/>
                  </a:lnTo>
                  <a:lnTo>
                    <a:pt x="0" y="3597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3727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395506" cy="397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697845" y="7110903"/>
            <a:ext cx="12892311" cy="1365838"/>
            <a:chOff x="0" y="0"/>
            <a:chExt cx="3395506" cy="3597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95506" cy="359727"/>
            </a:xfrm>
            <a:custGeom>
              <a:avLst/>
              <a:gdLst/>
              <a:ahLst/>
              <a:cxnLst/>
              <a:rect r="r" b="b" t="t" l="l"/>
              <a:pathLst>
                <a:path h="359727" w="3395506">
                  <a:moveTo>
                    <a:pt x="0" y="0"/>
                  </a:moveTo>
                  <a:lnTo>
                    <a:pt x="3395506" y="0"/>
                  </a:lnTo>
                  <a:lnTo>
                    <a:pt x="3395506" y="359727"/>
                  </a:lnTo>
                  <a:lnTo>
                    <a:pt x="0" y="3597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3727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395506" cy="397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796206" y="1553084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Project Goals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83500" y="3709596"/>
            <a:ext cx="1272100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337271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Automated Alerts:</a:t>
            </a:r>
            <a:r>
              <a:rPr lang="en-US" sz="300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 Sound and visual cues at specific times.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83500" y="5475484"/>
            <a:ext cx="1272100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337271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Environmental Monitoring:</a:t>
            </a:r>
            <a:r>
              <a:rPr lang="en-US" sz="3000" i="true">
                <a:solidFill>
                  <a:srgbClr val="337271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</a:t>
            </a:r>
            <a:r>
              <a:rPr lang="en-US" sz="300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Tracking storage conditions (Temp/Humidity).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406006" y="9057766"/>
            <a:ext cx="4196989" cy="770720"/>
          </a:xfrm>
          <a:custGeom>
            <a:avLst/>
            <a:gdLst/>
            <a:ahLst/>
            <a:cxnLst/>
            <a:rect r="r" b="b" t="t" l="l"/>
            <a:pathLst>
              <a:path h="770720" w="4196989">
                <a:moveTo>
                  <a:pt x="0" y="0"/>
                </a:moveTo>
                <a:lnTo>
                  <a:pt x="4196989" y="0"/>
                </a:lnTo>
                <a:lnTo>
                  <a:pt x="4196989" y="770720"/>
                </a:lnTo>
                <a:lnTo>
                  <a:pt x="0" y="7707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783500" y="4204896"/>
            <a:ext cx="1272100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337271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IoT Monitoring:</a:t>
            </a:r>
            <a:r>
              <a:rPr lang="en-US" sz="3000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300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Remote tracking of medication via a smartphone app.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83500" y="7234728"/>
            <a:ext cx="1272100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337271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Compliance Verification: </a:t>
            </a:r>
            <a:r>
              <a:rPr lang="en-US" sz="300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Using IR sensors to confirm if the medicine was actually taken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783500" y="6015528"/>
            <a:ext cx="1272100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337271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Safety: </a:t>
            </a:r>
            <a:r>
              <a:rPr lang="en-US" sz="300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Automatic locking/closing of compartments if a dose is missed.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57532" y="3724969"/>
            <a:ext cx="6698651" cy="4599931"/>
            <a:chOff x="0" y="0"/>
            <a:chExt cx="1764254" cy="12115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64254" cy="1211504"/>
            </a:xfrm>
            <a:custGeom>
              <a:avLst/>
              <a:gdLst/>
              <a:ahLst/>
              <a:cxnLst/>
              <a:rect r="r" b="b" t="t" l="l"/>
              <a:pathLst>
                <a:path h="1211504" w="1764254">
                  <a:moveTo>
                    <a:pt x="0" y="0"/>
                  </a:moveTo>
                  <a:lnTo>
                    <a:pt x="1764254" y="0"/>
                  </a:lnTo>
                  <a:lnTo>
                    <a:pt x="1764254" y="1211504"/>
                  </a:lnTo>
                  <a:lnTo>
                    <a:pt x="0" y="1211504"/>
                  </a:lnTo>
                  <a:close/>
                </a:path>
              </a:pathLst>
            </a:custGeom>
            <a:solidFill>
              <a:srgbClr val="33727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64254" cy="1249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796206" y="1704925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Problems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52476" y="5560007"/>
            <a:ext cx="5908762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Forgetfulness in taking medication (especially for the elderly or those with chronic illnesses).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91475" y="3953457"/>
            <a:ext cx="3513034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AC Diary Girl"/>
                <a:ea typeface="AC Diary Girl"/>
                <a:cs typeface="AC Diary Girl"/>
                <a:sym typeface="AC Diary Girl"/>
              </a:rPr>
              <a:t>The Issue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431817" y="3724969"/>
            <a:ext cx="6698651" cy="4599931"/>
            <a:chOff x="0" y="0"/>
            <a:chExt cx="1764254" cy="12115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64254" cy="1211504"/>
            </a:xfrm>
            <a:custGeom>
              <a:avLst/>
              <a:gdLst/>
              <a:ahLst/>
              <a:cxnLst/>
              <a:rect r="r" b="b" t="t" l="l"/>
              <a:pathLst>
                <a:path h="1211504" w="1764254">
                  <a:moveTo>
                    <a:pt x="0" y="0"/>
                  </a:moveTo>
                  <a:lnTo>
                    <a:pt x="1764254" y="0"/>
                  </a:lnTo>
                  <a:lnTo>
                    <a:pt x="1764254" y="1211504"/>
                  </a:lnTo>
                  <a:lnTo>
                    <a:pt x="0" y="1211504"/>
                  </a:lnTo>
                  <a:close/>
                </a:path>
              </a:pathLst>
            </a:custGeom>
            <a:solidFill>
              <a:srgbClr val="33727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764254" cy="1249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826762" y="5560007"/>
            <a:ext cx="5908762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Reduced treatment effectiveness, health complications, and hospital readmissions.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74856" y="3953457"/>
            <a:ext cx="5660668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AC Diary Girl"/>
                <a:ea typeface="AC Diary Girl"/>
                <a:cs typeface="AC Diary Girl"/>
                <a:sym typeface="AC Diary Girl"/>
              </a:rPr>
              <a:t>Consequences 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533991" y="6870677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425143" y="-389831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512678" y="3614092"/>
            <a:ext cx="1393186" cy="1125001"/>
            <a:chOff x="0" y="0"/>
            <a:chExt cx="366930" cy="2962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6930" cy="296297"/>
            </a:xfrm>
            <a:custGeom>
              <a:avLst/>
              <a:gdLst/>
              <a:ahLst/>
              <a:cxnLst/>
              <a:rect r="r" b="b" t="t" l="l"/>
              <a:pathLst>
                <a:path h="296297" w="366930">
                  <a:moveTo>
                    <a:pt x="0" y="0"/>
                  </a:moveTo>
                  <a:lnTo>
                    <a:pt x="366930" y="0"/>
                  </a:lnTo>
                  <a:lnTo>
                    <a:pt x="366930" y="296297"/>
                  </a:lnTo>
                  <a:lnTo>
                    <a:pt x="0" y="296297"/>
                  </a:lnTo>
                  <a:close/>
                </a:path>
              </a:pathLst>
            </a:custGeom>
            <a:solidFill>
              <a:srgbClr val="337271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6930" cy="334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46771" y="4461140"/>
            <a:ext cx="4325000" cy="4118257"/>
            <a:chOff x="0" y="0"/>
            <a:chExt cx="1139095" cy="10846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9095" cy="1084644"/>
            </a:xfrm>
            <a:custGeom>
              <a:avLst/>
              <a:gdLst/>
              <a:ahLst/>
              <a:cxnLst/>
              <a:rect r="r" b="b" t="t" l="l"/>
              <a:pathLst>
                <a:path h="1084644" w="1139095">
                  <a:moveTo>
                    <a:pt x="179004" y="0"/>
                  </a:moveTo>
                  <a:lnTo>
                    <a:pt x="960091" y="0"/>
                  </a:lnTo>
                  <a:cubicBezTo>
                    <a:pt x="1058952" y="0"/>
                    <a:pt x="1139095" y="80143"/>
                    <a:pt x="1139095" y="179004"/>
                  </a:cubicBezTo>
                  <a:lnTo>
                    <a:pt x="1139095" y="905640"/>
                  </a:lnTo>
                  <a:cubicBezTo>
                    <a:pt x="1139095" y="953115"/>
                    <a:pt x="1120235" y="998645"/>
                    <a:pt x="1086666" y="1032215"/>
                  </a:cubicBezTo>
                  <a:cubicBezTo>
                    <a:pt x="1053096" y="1065785"/>
                    <a:pt x="1007565" y="1084644"/>
                    <a:pt x="960091" y="1084644"/>
                  </a:cubicBezTo>
                  <a:lnTo>
                    <a:pt x="179004" y="1084644"/>
                  </a:lnTo>
                  <a:cubicBezTo>
                    <a:pt x="80143" y="1084644"/>
                    <a:pt x="0" y="1004501"/>
                    <a:pt x="0" y="905640"/>
                  </a:cubicBezTo>
                  <a:lnTo>
                    <a:pt x="0" y="179004"/>
                  </a:lnTo>
                  <a:cubicBezTo>
                    <a:pt x="0" y="131529"/>
                    <a:pt x="18859" y="85999"/>
                    <a:pt x="52429" y="52429"/>
                  </a:cubicBezTo>
                  <a:cubicBezTo>
                    <a:pt x="85999" y="18859"/>
                    <a:pt x="131529" y="0"/>
                    <a:pt x="179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337271"/>
              </a:solidFill>
              <a:prstDash val="lgDash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39095" cy="1122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549023" y="1430066"/>
            <a:ext cx="13731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Software &amp; Logic Flow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28169" y="5624612"/>
            <a:ext cx="3767506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i="true">
                <a:solidFill>
                  <a:srgbClr val="337271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Initialization</a:t>
            </a:r>
            <a:r>
              <a:rPr lang="en-US" sz="2499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: Connects to Wi-Fi and Blynk; sets servo positions to "Closed."</a:t>
            </a:r>
          </a:p>
          <a:p>
            <a:pPr algn="ctr">
              <a:lnSpc>
                <a:spcPts val="3499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8447407" y="3614092"/>
            <a:ext cx="1393186" cy="1125001"/>
            <a:chOff x="0" y="0"/>
            <a:chExt cx="366930" cy="2962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6930" cy="296297"/>
            </a:xfrm>
            <a:custGeom>
              <a:avLst/>
              <a:gdLst/>
              <a:ahLst/>
              <a:cxnLst/>
              <a:rect r="r" b="b" t="t" l="l"/>
              <a:pathLst>
                <a:path h="296297" w="366930">
                  <a:moveTo>
                    <a:pt x="0" y="0"/>
                  </a:moveTo>
                  <a:lnTo>
                    <a:pt x="366930" y="0"/>
                  </a:lnTo>
                  <a:lnTo>
                    <a:pt x="366930" y="296297"/>
                  </a:lnTo>
                  <a:lnTo>
                    <a:pt x="0" y="296297"/>
                  </a:lnTo>
                  <a:close/>
                </a:path>
              </a:pathLst>
            </a:custGeom>
            <a:solidFill>
              <a:srgbClr val="33727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66930" cy="334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21927" y="4461140"/>
            <a:ext cx="4484573" cy="4118257"/>
            <a:chOff x="0" y="0"/>
            <a:chExt cx="1181122" cy="10846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81122" cy="1084644"/>
            </a:xfrm>
            <a:custGeom>
              <a:avLst/>
              <a:gdLst/>
              <a:ahLst/>
              <a:cxnLst/>
              <a:rect r="r" b="b" t="t" l="l"/>
              <a:pathLst>
                <a:path h="1084644" w="1181122">
                  <a:moveTo>
                    <a:pt x="172635" y="0"/>
                  </a:moveTo>
                  <a:lnTo>
                    <a:pt x="1008487" y="0"/>
                  </a:lnTo>
                  <a:cubicBezTo>
                    <a:pt x="1054273" y="0"/>
                    <a:pt x="1098183" y="18188"/>
                    <a:pt x="1130559" y="50563"/>
                  </a:cubicBezTo>
                  <a:cubicBezTo>
                    <a:pt x="1162934" y="82939"/>
                    <a:pt x="1181122" y="126849"/>
                    <a:pt x="1181122" y="172635"/>
                  </a:cubicBezTo>
                  <a:lnTo>
                    <a:pt x="1181122" y="912009"/>
                  </a:lnTo>
                  <a:cubicBezTo>
                    <a:pt x="1181122" y="957795"/>
                    <a:pt x="1162934" y="1001705"/>
                    <a:pt x="1130559" y="1034080"/>
                  </a:cubicBezTo>
                  <a:cubicBezTo>
                    <a:pt x="1098183" y="1066456"/>
                    <a:pt x="1054273" y="1084644"/>
                    <a:pt x="1008487" y="1084644"/>
                  </a:cubicBezTo>
                  <a:lnTo>
                    <a:pt x="172635" y="1084644"/>
                  </a:lnTo>
                  <a:cubicBezTo>
                    <a:pt x="126849" y="1084644"/>
                    <a:pt x="82939" y="1066456"/>
                    <a:pt x="50563" y="1034080"/>
                  </a:cubicBezTo>
                  <a:cubicBezTo>
                    <a:pt x="18188" y="1001705"/>
                    <a:pt x="0" y="957795"/>
                    <a:pt x="0" y="912009"/>
                  </a:cubicBezTo>
                  <a:lnTo>
                    <a:pt x="0" y="172635"/>
                  </a:lnTo>
                  <a:cubicBezTo>
                    <a:pt x="0" y="126849"/>
                    <a:pt x="18188" y="82939"/>
                    <a:pt x="50563" y="50563"/>
                  </a:cubicBezTo>
                  <a:cubicBezTo>
                    <a:pt x="82939" y="18188"/>
                    <a:pt x="126849" y="0"/>
                    <a:pt x="17263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337271"/>
              </a:solidFill>
              <a:prstDash val="lgDash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81122" cy="1122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260247" y="5405537"/>
            <a:ext cx="3767506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i="true">
                <a:solidFill>
                  <a:srgbClr val="337271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The Alert Cycle: </a:t>
            </a:r>
            <a:r>
              <a:rPr lang="en-US" sz="2499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1. Pre-set timer triggers. 2. Buzzer/LED turns ON + App notification sent. 3. Servo opens the specific compartment.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382136" y="3614092"/>
            <a:ext cx="1393186" cy="1125001"/>
            <a:chOff x="0" y="0"/>
            <a:chExt cx="366930" cy="2962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6930" cy="296297"/>
            </a:xfrm>
            <a:custGeom>
              <a:avLst/>
              <a:gdLst/>
              <a:ahLst/>
              <a:cxnLst/>
              <a:rect r="r" b="b" t="t" l="l"/>
              <a:pathLst>
                <a:path h="296297" w="366930">
                  <a:moveTo>
                    <a:pt x="0" y="0"/>
                  </a:moveTo>
                  <a:lnTo>
                    <a:pt x="366930" y="0"/>
                  </a:lnTo>
                  <a:lnTo>
                    <a:pt x="366930" y="296297"/>
                  </a:lnTo>
                  <a:lnTo>
                    <a:pt x="0" y="296297"/>
                  </a:lnTo>
                  <a:close/>
                </a:path>
              </a:pathLst>
            </a:custGeom>
            <a:solidFill>
              <a:srgbClr val="337271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66930" cy="334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92325" y="4461140"/>
            <a:ext cx="4409065" cy="4118257"/>
            <a:chOff x="0" y="0"/>
            <a:chExt cx="1161235" cy="10846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61235" cy="1084644"/>
            </a:xfrm>
            <a:custGeom>
              <a:avLst/>
              <a:gdLst/>
              <a:ahLst/>
              <a:cxnLst/>
              <a:rect r="r" b="b" t="t" l="l"/>
              <a:pathLst>
                <a:path h="1084644" w="1161235">
                  <a:moveTo>
                    <a:pt x="175591" y="0"/>
                  </a:moveTo>
                  <a:lnTo>
                    <a:pt x="985644" y="0"/>
                  </a:lnTo>
                  <a:cubicBezTo>
                    <a:pt x="1032214" y="0"/>
                    <a:pt x="1076876" y="18500"/>
                    <a:pt x="1109806" y="51429"/>
                  </a:cubicBezTo>
                  <a:cubicBezTo>
                    <a:pt x="1142735" y="84359"/>
                    <a:pt x="1161235" y="129021"/>
                    <a:pt x="1161235" y="175591"/>
                  </a:cubicBezTo>
                  <a:lnTo>
                    <a:pt x="1161235" y="909053"/>
                  </a:lnTo>
                  <a:cubicBezTo>
                    <a:pt x="1161235" y="955622"/>
                    <a:pt x="1142735" y="1000285"/>
                    <a:pt x="1109806" y="1033214"/>
                  </a:cubicBezTo>
                  <a:cubicBezTo>
                    <a:pt x="1076876" y="1066144"/>
                    <a:pt x="1032214" y="1084644"/>
                    <a:pt x="985644" y="1084644"/>
                  </a:cubicBezTo>
                  <a:lnTo>
                    <a:pt x="175591" y="1084644"/>
                  </a:lnTo>
                  <a:cubicBezTo>
                    <a:pt x="129021" y="1084644"/>
                    <a:pt x="84359" y="1066144"/>
                    <a:pt x="51429" y="1033214"/>
                  </a:cubicBezTo>
                  <a:cubicBezTo>
                    <a:pt x="18500" y="1000285"/>
                    <a:pt x="0" y="955622"/>
                    <a:pt x="0" y="909053"/>
                  </a:cubicBezTo>
                  <a:lnTo>
                    <a:pt x="0" y="175591"/>
                  </a:lnTo>
                  <a:cubicBezTo>
                    <a:pt x="0" y="129021"/>
                    <a:pt x="18500" y="84359"/>
                    <a:pt x="51429" y="51429"/>
                  </a:cubicBezTo>
                  <a:cubicBezTo>
                    <a:pt x="84359" y="18500"/>
                    <a:pt x="129021" y="0"/>
                    <a:pt x="17559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337271"/>
              </a:solidFill>
              <a:prstDash val="lgDash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161235" cy="1122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513104" y="4748312"/>
            <a:ext cx="3767506" cy="392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 i="true">
                <a:solidFill>
                  <a:srgbClr val="337271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Confirmation Logic: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Success: IR Sensor detects movement → System resets → App updated.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Missed Dose: 60-second timeout → Lid closes → "Missed Dose" alert</a:t>
            </a: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3663257" y="3654305"/>
            <a:ext cx="1092028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AC Diary Girl"/>
                <a:ea typeface="AC Diary Girl"/>
                <a:cs typeface="AC Diary Girl"/>
                <a:sym typeface="AC Diary Girl"/>
              </a:rPr>
              <a:t>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597986" y="3654305"/>
            <a:ext cx="1092028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AC Diary Girl"/>
                <a:ea typeface="AC Diary Girl"/>
                <a:cs typeface="AC Diary Girl"/>
                <a:sym typeface="AC Diary Girl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532715" y="3654305"/>
            <a:ext cx="1092028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AC Diary Girl"/>
                <a:ea typeface="AC Diary Girl"/>
                <a:cs typeface="AC Diary Girl"/>
                <a:sym typeface="AC Diary Girl"/>
              </a:rPr>
              <a:t>3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-312825" y="-1453012"/>
            <a:ext cx="3106974" cy="3356911"/>
          </a:xfrm>
          <a:custGeom>
            <a:avLst/>
            <a:gdLst/>
            <a:ahLst/>
            <a:cxnLst/>
            <a:rect r="r" b="b" t="t" l="l"/>
            <a:pathLst>
              <a:path h="3356911" w="3106974">
                <a:moveTo>
                  <a:pt x="0" y="0"/>
                </a:moveTo>
                <a:lnTo>
                  <a:pt x="3106974" y="0"/>
                </a:lnTo>
                <a:lnTo>
                  <a:pt x="3106974" y="3356911"/>
                </a:lnTo>
                <a:lnTo>
                  <a:pt x="0" y="3356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663257" y="3626063"/>
            <a:ext cx="1393186" cy="1125001"/>
            <a:chOff x="0" y="0"/>
            <a:chExt cx="366930" cy="2962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6930" cy="296297"/>
            </a:xfrm>
            <a:custGeom>
              <a:avLst/>
              <a:gdLst/>
              <a:ahLst/>
              <a:cxnLst/>
              <a:rect r="r" b="b" t="t" l="l"/>
              <a:pathLst>
                <a:path h="296297" w="366930">
                  <a:moveTo>
                    <a:pt x="0" y="0"/>
                  </a:moveTo>
                  <a:lnTo>
                    <a:pt x="366930" y="0"/>
                  </a:lnTo>
                  <a:lnTo>
                    <a:pt x="366930" y="296297"/>
                  </a:lnTo>
                  <a:lnTo>
                    <a:pt x="0" y="296297"/>
                  </a:lnTo>
                  <a:close/>
                </a:path>
              </a:pathLst>
            </a:custGeom>
            <a:solidFill>
              <a:srgbClr val="337271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6930" cy="334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991897" y="4559564"/>
            <a:ext cx="4658621" cy="4114698"/>
            <a:chOff x="0" y="0"/>
            <a:chExt cx="1226962" cy="10837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6962" cy="1083706"/>
            </a:xfrm>
            <a:custGeom>
              <a:avLst/>
              <a:gdLst/>
              <a:ahLst/>
              <a:cxnLst/>
              <a:rect r="r" b="b" t="t" l="l"/>
              <a:pathLst>
                <a:path h="1083706" w="1226962">
                  <a:moveTo>
                    <a:pt x="166185" y="0"/>
                  </a:moveTo>
                  <a:lnTo>
                    <a:pt x="1060777" y="0"/>
                  </a:lnTo>
                  <a:cubicBezTo>
                    <a:pt x="1104852" y="0"/>
                    <a:pt x="1147122" y="17509"/>
                    <a:pt x="1178287" y="48674"/>
                  </a:cubicBezTo>
                  <a:cubicBezTo>
                    <a:pt x="1209453" y="79840"/>
                    <a:pt x="1226962" y="122110"/>
                    <a:pt x="1226962" y="166185"/>
                  </a:cubicBezTo>
                  <a:lnTo>
                    <a:pt x="1226962" y="917522"/>
                  </a:lnTo>
                  <a:cubicBezTo>
                    <a:pt x="1226962" y="1009303"/>
                    <a:pt x="1152558" y="1083706"/>
                    <a:pt x="1060777" y="1083706"/>
                  </a:cubicBezTo>
                  <a:lnTo>
                    <a:pt x="166185" y="1083706"/>
                  </a:lnTo>
                  <a:cubicBezTo>
                    <a:pt x="122110" y="1083706"/>
                    <a:pt x="79840" y="1066198"/>
                    <a:pt x="48674" y="1035032"/>
                  </a:cubicBezTo>
                  <a:cubicBezTo>
                    <a:pt x="17509" y="1003866"/>
                    <a:pt x="0" y="961597"/>
                    <a:pt x="0" y="917522"/>
                  </a:cubicBezTo>
                  <a:lnTo>
                    <a:pt x="0" y="166185"/>
                  </a:lnTo>
                  <a:cubicBezTo>
                    <a:pt x="0" y="122110"/>
                    <a:pt x="17509" y="79840"/>
                    <a:pt x="48674" y="48674"/>
                  </a:cubicBezTo>
                  <a:cubicBezTo>
                    <a:pt x="79840" y="17509"/>
                    <a:pt x="122110" y="0"/>
                    <a:pt x="16618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337271"/>
              </a:solidFill>
              <a:prstDash val="lgDash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26962" cy="1121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668252" y="3680767"/>
            <a:ext cx="1393186" cy="1125001"/>
            <a:chOff x="0" y="0"/>
            <a:chExt cx="366930" cy="2962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6930" cy="296297"/>
            </a:xfrm>
            <a:custGeom>
              <a:avLst/>
              <a:gdLst/>
              <a:ahLst/>
              <a:cxnLst/>
              <a:rect r="r" b="b" t="t" l="l"/>
              <a:pathLst>
                <a:path h="296297" w="366930">
                  <a:moveTo>
                    <a:pt x="0" y="0"/>
                  </a:moveTo>
                  <a:lnTo>
                    <a:pt x="366930" y="0"/>
                  </a:lnTo>
                  <a:lnTo>
                    <a:pt x="366930" y="296297"/>
                  </a:lnTo>
                  <a:lnTo>
                    <a:pt x="0" y="296297"/>
                  </a:lnTo>
                  <a:close/>
                </a:path>
              </a:pathLst>
            </a:custGeom>
            <a:solidFill>
              <a:srgbClr val="337271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66930" cy="334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22559" y="4489748"/>
            <a:ext cx="4484573" cy="4118257"/>
            <a:chOff x="0" y="0"/>
            <a:chExt cx="1181122" cy="10846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81122" cy="1084644"/>
            </a:xfrm>
            <a:custGeom>
              <a:avLst/>
              <a:gdLst/>
              <a:ahLst/>
              <a:cxnLst/>
              <a:rect r="r" b="b" t="t" l="l"/>
              <a:pathLst>
                <a:path h="1084644" w="1181122">
                  <a:moveTo>
                    <a:pt x="172635" y="0"/>
                  </a:moveTo>
                  <a:lnTo>
                    <a:pt x="1008487" y="0"/>
                  </a:lnTo>
                  <a:cubicBezTo>
                    <a:pt x="1054273" y="0"/>
                    <a:pt x="1098183" y="18188"/>
                    <a:pt x="1130559" y="50563"/>
                  </a:cubicBezTo>
                  <a:cubicBezTo>
                    <a:pt x="1162934" y="82939"/>
                    <a:pt x="1181122" y="126849"/>
                    <a:pt x="1181122" y="172635"/>
                  </a:cubicBezTo>
                  <a:lnTo>
                    <a:pt x="1181122" y="912009"/>
                  </a:lnTo>
                  <a:cubicBezTo>
                    <a:pt x="1181122" y="957795"/>
                    <a:pt x="1162934" y="1001705"/>
                    <a:pt x="1130559" y="1034080"/>
                  </a:cubicBezTo>
                  <a:cubicBezTo>
                    <a:pt x="1098183" y="1066456"/>
                    <a:pt x="1054273" y="1084644"/>
                    <a:pt x="1008487" y="1084644"/>
                  </a:cubicBezTo>
                  <a:lnTo>
                    <a:pt x="172635" y="1084644"/>
                  </a:lnTo>
                  <a:cubicBezTo>
                    <a:pt x="126849" y="1084644"/>
                    <a:pt x="82939" y="1066456"/>
                    <a:pt x="50563" y="1034080"/>
                  </a:cubicBezTo>
                  <a:cubicBezTo>
                    <a:pt x="18188" y="1001705"/>
                    <a:pt x="0" y="957795"/>
                    <a:pt x="0" y="912009"/>
                  </a:cubicBezTo>
                  <a:lnTo>
                    <a:pt x="0" y="172635"/>
                  </a:lnTo>
                  <a:cubicBezTo>
                    <a:pt x="0" y="126849"/>
                    <a:pt x="18188" y="82939"/>
                    <a:pt x="50563" y="50563"/>
                  </a:cubicBezTo>
                  <a:cubicBezTo>
                    <a:pt x="82939" y="18188"/>
                    <a:pt x="126849" y="0"/>
                    <a:pt x="17263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337271"/>
              </a:solidFill>
              <a:prstDash val="lgDash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81122" cy="1122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491794" y="3269174"/>
            <a:ext cx="4224178" cy="5632237"/>
          </a:xfrm>
          <a:custGeom>
            <a:avLst/>
            <a:gdLst/>
            <a:ahLst/>
            <a:cxnLst/>
            <a:rect r="r" b="b" t="t" l="l"/>
            <a:pathLst>
              <a:path h="5632237" w="4224178">
                <a:moveTo>
                  <a:pt x="0" y="0"/>
                </a:moveTo>
                <a:lnTo>
                  <a:pt x="4224177" y="0"/>
                </a:lnTo>
                <a:lnTo>
                  <a:pt x="4224177" y="5632238"/>
                </a:lnTo>
                <a:lnTo>
                  <a:pt x="0" y="5632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796206" y="1450427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IOT Integration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25518" y="5250301"/>
            <a:ext cx="376750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i="true">
                <a:solidFill>
                  <a:srgbClr val="337271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Real-time Dashboard:</a:t>
            </a:r>
            <a:r>
              <a:rPr lang="en-US" sz="2499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 View Temperature and Humidity graphs.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13836" y="3666276"/>
            <a:ext cx="1092028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AC Diary Girl"/>
                <a:ea typeface="AC Diary Girl"/>
                <a:cs typeface="AC Diary Girl"/>
                <a:sym typeface="AC Diary Girl"/>
              </a:rPr>
              <a:t>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76097" y="6787518"/>
            <a:ext cx="376750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i="true">
                <a:solidFill>
                  <a:srgbClr val="337271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Remote Control: </a:t>
            </a:r>
            <a:r>
              <a:rPr lang="en-US" sz="2499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A "Silence" button (V1) to stop the buzzer manually.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05802" y="5224868"/>
            <a:ext cx="376750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i="true">
                <a:solidFill>
                  <a:srgbClr val="337271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Live Status: </a:t>
            </a:r>
            <a:r>
              <a:rPr lang="en-US" sz="2499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Indicators for each IR sensor (V10-V12).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18831" y="3904068"/>
            <a:ext cx="1092028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AC Diary Girl"/>
                <a:ea typeface="AC Diary Girl"/>
                <a:cs typeface="AC Diary Girl"/>
                <a:sym typeface="AC Diary Girl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81092" y="6501251"/>
            <a:ext cx="376750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i="true">
                <a:solidFill>
                  <a:srgbClr val="337271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Events:</a:t>
            </a:r>
            <a:r>
              <a:rPr lang="en-US" sz="2499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 Push notifications for "Medicine Time" and "Missed Dose."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99932" y="-1172339"/>
            <a:ext cx="5066542" cy="2938594"/>
          </a:xfrm>
          <a:custGeom>
            <a:avLst/>
            <a:gdLst/>
            <a:ahLst/>
            <a:cxnLst/>
            <a:rect r="r" b="b" t="t" l="l"/>
            <a:pathLst>
              <a:path h="2938594" w="5066542">
                <a:moveTo>
                  <a:pt x="0" y="0"/>
                </a:moveTo>
                <a:lnTo>
                  <a:pt x="5066542" y="0"/>
                </a:lnTo>
                <a:lnTo>
                  <a:pt x="5066542" y="2938595"/>
                </a:lnTo>
                <a:lnTo>
                  <a:pt x="0" y="29385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33991" y="6870677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48950" y="1766256"/>
            <a:ext cx="14017771" cy="8229600"/>
          </a:xfrm>
          <a:custGeom>
            <a:avLst/>
            <a:gdLst/>
            <a:ahLst/>
            <a:cxnLst/>
            <a:rect r="r" b="b" t="t" l="l"/>
            <a:pathLst>
              <a:path h="8229600" w="14017771">
                <a:moveTo>
                  <a:pt x="0" y="0"/>
                </a:moveTo>
                <a:lnTo>
                  <a:pt x="14017771" y="0"/>
                </a:lnTo>
                <a:lnTo>
                  <a:pt x="1401777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7483"/>
            <a:ext cx="16617511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Hardware Components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76522" y="2440904"/>
            <a:ext cx="883535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ESP32: Main controller with built-in Wi-Fi.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76522" y="3045443"/>
            <a:ext cx="8835358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Servos (MG90S): Mechanically       opens/closes 3 separate compartments.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76522" y="5257486"/>
            <a:ext cx="8835358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IR Sensors: Detects hand movement to verify medicine retrieval.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01622" y="7747612"/>
            <a:ext cx="8835358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DHT11: Monitors if pills are stored in safe temperature/humidity.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57532" y="3724969"/>
            <a:ext cx="6698651" cy="4599931"/>
            <a:chOff x="0" y="0"/>
            <a:chExt cx="1764254" cy="12115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64254" cy="1211504"/>
            </a:xfrm>
            <a:custGeom>
              <a:avLst/>
              <a:gdLst/>
              <a:ahLst/>
              <a:cxnLst/>
              <a:rect r="r" b="b" t="t" l="l"/>
              <a:pathLst>
                <a:path h="1211504" w="1764254">
                  <a:moveTo>
                    <a:pt x="0" y="0"/>
                  </a:moveTo>
                  <a:lnTo>
                    <a:pt x="1764254" y="0"/>
                  </a:lnTo>
                  <a:lnTo>
                    <a:pt x="1764254" y="1211504"/>
                  </a:lnTo>
                  <a:lnTo>
                    <a:pt x="0" y="1211504"/>
                  </a:lnTo>
                  <a:close/>
                </a:path>
              </a:pathLst>
            </a:custGeom>
            <a:solidFill>
              <a:srgbClr val="33727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64254" cy="1249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-791096" y="771525"/>
            <a:ext cx="20445828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Advantages &amp; Future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52476" y="5198951"/>
            <a:ext cx="5908762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Reduces human error.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Allows caregivers to monitor patients remotely.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Compact and low power consumption.</a:t>
            </a:r>
          </a:p>
          <a:p>
            <a:pPr algn="just">
              <a:lnSpc>
                <a:spcPts val="42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052529" y="3772612"/>
            <a:ext cx="4368416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AC Diary Girl"/>
                <a:ea typeface="AC Diary Girl"/>
                <a:cs typeface="AC Diary Girl"/>
                <a:sym typeface="AC Diary Girl"/>
              </a:rPr>
              <a:t>Advantages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431817" y="3724969"/>
            <a:ext cx="6698651" cy="4599931"/>
            <a:chOff x="0" y="0"/>
            <a:chExt cx="1764254" cy="12115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64254" cy="1211504"/>
            </a:xfrm>
            <a:custGeom>
              <a:avLst/>
              <a:gdLst/>
              <a:ahLst/>
              <a:cxnLst/>
              <a:rect r="r" b="b" t="t" l="l"/>
              <a:pathLst>
                <a:path h="1211504" w="1764254">
                  <a:moveTo>
                    <a:pt x="0" y="0"/>
                  </a:moveTo>
                  <a:lnTo>
                    <a:pt x="1764254" y="0"/>
                  </a:lnTo>
                  <a:lnTo>
                    <a:pt x="1764254" y="1211504"/>
                  </a:lnTo>
                  <a:lnTo>
                    <a:pt x="0" y="1211504"/>
                  </a:lnTo>
                  <a:close/>
                </a:path>
              </a:pathLst>
            </a:custGeom>
            <a:solidFill>
              <a:srgbClr val="33727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764254" cy="1249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826762" y="4817169"/>
            <a:ext cx="5908762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Integration with Google Assistant for voice reminders.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Face recognition to ensure the correct person takes the pill.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Reorder system that texts the pharmacy when pills are low.</a:t>
            </a:r>
          </a:p>
          <a:p>
            <a:pPr algn="ctr">
              <a:lnSpc>
                <a:spcPts val="42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950809" y="3582094"/>
            <a:ext cx="5660668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AC Diary Girl"/>
                <a:ea typeface="AC Diary Girl"/>
                <a:cs typeface="AC Diary Girl"/>
                <a:sym typeface="AC Diary Girl"/>
              </a:rPr>
              <a:t>Future Scope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533991" y="6870677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425143" y="-389831"/>
            <a:ext cx="2187080" cy="3022347"/>
          </a:xfrm>
          <a:custGeom>
            <a:avLst/>
            <a:gdLst/>
            <a:ahLst/>
            <a:cxnLst/>
            <a:rect r="r" b="b" t="t" l="l"/>
            <a:pathLst>
              <a:path h="3022347" w="2187080">
                <a:moveTo>
                  <a:pt x="0" y="0"/>
                </a:moveTo>
                <a:lnTo>
                  <a:pt x="2187081" y="0"/>
                </a:lnTo>
                <a:lnTo>
                  <a:pt x="2187081" y="3022348"/>
                </a:lnTo>
                <a:lnTo>
                  <a:pt x="0" y="30223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96206" y="2199700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74976" y="4115375"/>
            <a:ext cx="1433804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The Smart Medicine Box is a life-saving tool that bridges the gap between healthcare and IoT.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5690050" y="7739359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3551363" y="0"/>
                </a:moveTo>
                <a:lnTo>
                  <a:pt x="0" y="0"/>
                </a:lnTo>
                <a:lnTo>
                  <a:pt x="0" y="1646944"/>
                </a:lnTo>
                <a:lnTo>
                  <a:pt x="3551363" y="1646944"/>
                </a:lnTo>
                <a:lnTo>
                  <a:pt x="355136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46982" y="1028700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0" y="0"/>
                </a:moveTo>
                <a:lnTo>
                  <a:pt x="3551364" y="0"/>
                </a:lnTo>
                <a:lnTo>
                  <a:pt x="3551364" y="1646945"/>
                </a:lnTo>
                <a:lnTo>
                  <a:pt x="0" y="1646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96206" y="4200526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Q&amp;A Session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465442">
            <a:off x="15105791" y="2458225"/>
            <a:ext cx="2013817" cy="2206373"/>
          </a:xfrm>
          <a:custGeom>
            <a:avLst/>
            <a:gdLst/>
            <a:ahLst/>
            <a:cxnLst/>
            <a:rect r="r" b="b" t="t" l="l"/>
            <a:pathLst>
              <a:path h="2206373" w="2013817">
                <a:moveTo>
                  <a:pt x="0" y="0"/>
                </a:moveTo>
                <a:lnTo>
                  <a:pt x="2013817" y="0"/>
                </a:lnTo>
                <a:lnTo>
                  <a:pt x="2013817" y="2206373"/>
                </a:lnTo>
                <a:lnTo>
                  <a:pt x="0" y="22063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62311" y="8487580"/>
            <a:ext cx="4196989" cy="770720"/>
          </a:xfrm>
          <a:custGeom>
            <a:avLst/>
            <a:gdLst/>
            <a:ahLst/>
            <a:cxnLst/>
            <a:rect r="r" b="b" t="t" l="l"/>
            <a:pathLst>
              <a:path h="770720" w="4196989">
                <a:moveTo>
                  <a:pt x="0" y="0"/>
                </a:moveTo>
                <a:lnTo>
                  <a:pt x="4196989" y="0"/>
                </a:lnTo>
                <a:lnTo>
                  <a:pt x="4196989" y="770720"/>
                </a:lnTo>
                <a:lnTo>
                  <a:pt x="0" y="7707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37417">
            <a:off x="1699513" y="6606455"/>
            <a:ext cx="3549699" cy="2562238"/>
          </a:xfrm>
          <a:custGeom>
            <a:avLst/>
            <a:gdLst/>
            <a:ahLst/>
            <a:cxnLst/>
            <a:rect r="r" b="b" t="t" l="l"/>
            <a:pathLst>
              <a:path h="2562238" w="3549699">
                <a:moveTo>
                  <a:pt x="0" y="0"/>
                </a:moveTo>
                <a:lnTo>
                  <a:pt x="3549700" y="0"/>
                </a:lnTo>
                <a:lnTo>
                  <a:pt x="3549700" y="2562237"/>
                </a:lnTo>
                <a:lnTo>
                  <a:pt x="0" y="25622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65218" y="3200400"/>
            <a:ext cx="8695587" cy="403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5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62311" y="8487580"/>
            <a:ext cx="4196989" cy="770720"/>
          </a:xfrm>
          <a:custGeom>
            <a:avLst/>
            <a:gdLst/>
            <a:ahLst/>
            <a:cxnLst/>
            <a:rect r="r" b="b" t="t" l="l"/>
            <a:pathLst>
              <a:path h="770720" w="4196989">
                <a:moveTo>
                  <a:pt x="0" y="0"/>
                </a:moveTo>
                <a:lnTo>
                  <a:pt x="4196989" y="0"/>
                </a:lnTo>
                <a:lnTo>
                  <a:pt x="4196989" y="770720"/>
                </a:lnTo>
                <a:lnTo>
                  <a:pt x="0" y="7707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18246">
            <a:off x="3423654" y="3579497"/>
            <a:ext cx="4333509" cy="3128006"/>
          </a:xfrm>
          <a:custGeom>
            <a:avLst/>
            <a:gdLst/>
            <a:ahLst/>
            <a:cxnLst/>
            <a:rect r="r" b="b" t="t" l="l"/>
            <a:pathLst>
              <a:path h="3128006" w="4333509">
                <a:moveTo>
                  <a:pt x="0" y="0"/>
                </a:moveTo>
                <a:lnTo>
                  <a:pt x="4333509" y="0"/>
                </a:lnTo>
                <a:lnTo>
                  <a:pt x="4333509" y="3128006"/>
                </a:lnTo>
                <a:lnTo>
                  <a:pt x="0" y="31280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DAG9FbzSllU</dc:identifier>
  <dcterms:modified xsi:type="dcterms:W3CDTF">2011-08-01T06:04:30Z</dcterms:modified>
  <cp:revision>1</cp:revision>
  <dc:title>Presented by Rabia Naseer-1275 Laiba Taseen-1258 Malika-1291</dc:title>
</cp:coreProperties>
</file>